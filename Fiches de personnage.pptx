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6858000" cy="9906000" type="A4"/>
  <p:notesSz cx="6858000" cy="9144000"/>
  <p:defaultTextStyle>
    <a:defPPr>
      <a:defRPr lang="fr-F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2160"/>
        <p:guide pos="312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451946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490229721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10/10/2025</a:t>
            </a:fld>
            <a:endParaRPr lang="fr-FR"/>
          </a:p>
        </p:txBody>
      </p:sp>
      <p:sp>
        <p:nvSpPr>
          <p:cNvPr id="166479722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154745006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334422887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40636748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45521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2360612" y="1143000"/>
            <a:ext cx="2136774" cy="3086100"/>
          </a:xfrm>
        </p:spPr>
      </p:sp>
      <p:sp>
        <p:nvSpPr>
          <p:cNvPr id="1975791203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1945428301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7CB8C3-4752-FF7C-2D01-DE008A36A7B4}" type="slidenum">
              <a:rPr lang="fr-FR"/>
              <a:t>1</a:t>
            </a:fld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03257" name="Titre 1"/>
          <p:cNvSpPr>
            <a:spLocks noGrp="1"/>
          </p:cNvSpPr>
          <p:nvPr>
            <p:ph type="ctrTitle"/>
          </p:nvPr>
        </p:nvSpPr>
        <p:spPr bwMode="auto">
          <a:xfrm>
            <a:off x="857250" y="1621191"/>
            <a:ext cx="5143500" cy="3448755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372665466" name="Sous-titre 2"/>
          <p:cNvSpPr>
            <a:spLocks noGrp="1"/>
          </p:cNvSpPr>
          <p:nvPr>
            <p:ph type="subTitle" idx="1"/>
          </p:nvPr>
        </p:nvSpPr>
        <p:spPr bwMode="auto">
          <a:xfrm>
            <a:off x="857250" y="5202943"/>
            <a:ext cx="5143500" cy="2391656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/>
          </a:p>
        </p:txBody>
      </p:sp>
      <p:sp>
        <p:nvSpPr>
          <p:cNvPr id="131954185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05123293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1631235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461945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552047269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04858852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98454354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881245584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121620" name="Titre 1"/>
          <p:cNvSpPr>
            <a:spLocks noGrp="1"/>
          </p:cNvSpPr>
          <p:nvPr>
            <p:ph type="title"/>
          </p:nvPr>
        </p:nvSpPr>
        <p:spPr bwMode="auto">
          <a:xfrm>
            <a:off x="467914" y="2469621"/>
            <a:ext cx="5915025" cy="4120620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2107198918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67914" y="6629224"/>
            <a:ext cx="5915025" cy="216693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964740153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78030513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57648100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53590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575929105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471487" y="2637012"/>
            <a:ext cx="2914650" cy="6285266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800164411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3471862" y="2637012"/>
            <a:ext cx="2914650" cy="6285266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951302183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494248265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2743792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8369992" name="Titre 1"/>
          <p:cNvSpPr>
            <a:spLocks noGrp="1"/>
          </p:cNvSpPr>
          <p:nvPr>
            <p:ph type="title"/>
          </p:nvPr>
        </p:nvSpPr>
        <p:spPr bwMode="auto">
          <a:xfrm>
            <a:off x="472380" y="527402"/>
            <a:ext cx="5915025" cy="1914702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928995848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72380" y="2428346"/>
            <a:ext cx="2901255" cy="119009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68027146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472380" y="3618441"/>
            <a:ext cx="2901255" cy="5322182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709792003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3471862" y="2428346"/>
            <a:ext cx="2915543" cy="119009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06773498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3471862" y="3618441"/>
            <a:ext cx="2915543" cy="5322182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857673627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365281441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869369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263847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347364811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995875413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58935798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233445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678895802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05528751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408648" name="Titre 1"/>
          <p:cNvSpPr>
            <a:spLocks noGrp="1"/>
          </p:cNvSpPr>
          <p:nvPr>
            <p:ph type="title"/>
          </p:nvPr>
        </p:nvSpPr>
        <p:spPr bwMode="auto">
          <a:xfrm>
            <a:off x="472380" y="660400"/>
            <a:ext cx="2211883" cy="2311399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48499309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2915543" y="1426280"/>
            <a:ext cx="3471862" cy="703967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506094301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472380" y="2971800"/>
            <a:ext cx="2211883" cy="55056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853220370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08230026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967597120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117566" name="Titre 1"/>
          <p:cNvSpPr>
            <a:spLocks noGrp="1"/>
          </p:cNvSpPr>
          <p:nvPr>
            <p:ph type="title"/>
          </p:nvPr>
        </p:nvSpPr>
        <p:spPr bwMode="auto">
          <a:xfrm>
            <a:off x="472380" y="660400"/>
            <a:ext cx="2211883" cy="2311399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264284827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2915543" y="1426280"/>
            <a:ext cx="3471862" cy="703967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/>
          </a:p>
        </p:txBody>
      </p:sp>
      <p:sp>
        <p:nvSpPr>
          <p:cNvPr id="137213521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472380" y="2971800"/>
            <a:ext cx="2211883" cy="55056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86848175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10814772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28171546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6118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603780528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303188643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368182462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74317226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7913509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4907756" y="527402"/>
            <a:ext cx="1478756" cy="8394877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1975878081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471487" y="527402"/>
            <a:ext cx="4350543" cy="8394877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211936449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1321032530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2854765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16915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71487" y="527402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/>
          </a:p>
        </p:txBody>
      </p:sp>
      <p:sp>
        <p:nvSpPr>
          <p:cNvPr id="8035205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71487" y="2637012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/>
          </a:p>
        </p:txBody>
      </p:sp>
      <p:sp>
        <p:nvSpPr>
          <p:cNvPr id="1969947079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471487" y="9181394"/>
            <a:ext cx="154305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r-FR"/>
              <a:t>10/10/2025</a:t>
            </a:fld>
            <a:endParaRPr lang="fr-FR"/>
          </a:p>
        </p:txBody>
      </p:sp>
      <p:sp>
        <p:nvSpPr>
          <p:cNvPr id="803775996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2271712" y="9181394"/>
            <a:ext cx="2314574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964630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4843462" y="9181394"/>
            <a:ext cx="1543050" cy="5274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974696" name=""/>
          <p:cNvSpPr/>
          <p:nvPr/>
        </p:nvSpPr>
        <p:spPr bwMode="auto">
          <a:xfrm rot="0" flipH="0" flipV="0">
            <a:off x="95945" y="7820861"/>
            <a:ext cx="2150925" cy="679934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44935210" name="ZoneTexte 1527388901"/>
          <p:cNvSpPr txBox="1"/>
          <p:nvPr/>
        </p:nvSpPr>
        <p:spPr bwMode="auto">
          <a:xfrm flipH="0" flipV="0">
            <a:off x="94859" y="5964820"/>
            <a:ext cx="2274919" cy="2606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Notoriété super/civile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Times New Roman"/>
              <a:ea typeface="Times New Roman"/>
              <a:cs typeface="Times New Roman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Moralité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super/civile</a:t>
            </a:r>
            <a:endParaRPr lang="fr-FR" sz="1000" b="0" i="0" u="none" strike="noStrike" cap="none" spc="0">
              <a:solidFill>
                <a:schemeClr val="tx1"/>
              </a:solidFill>
              <a:latin typeface="ComicNeueSansID"/>
              <a:ea typeface="ComicNeueSansID"/>
              <a:cs typeface="ComicNeueSansID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Times New Roman"/>
                <a:cs typeface="Times New Roman"/>
              </a:rPr>
              <a:t>___________________________</a:t>
            </a:r>
            <a:endParaRPr lang="fr-FR" sz="1000" b="0" i="0" u="none" strike="noStrike" cap="none" spc="0">
              <a:solidFill>
                <a:schemeClr val="tx1"/>
              </a:solidFill>
              <a:latin typeface="ComicNeueSansID"/>
              <a:ea typeface="ComicNeueSansID"/>
              <a:cs typeface="ComicNeueSansID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800597346" name=""/>
          <p:cNvSpPr/>
          <p:nvPr/>
        </p:nvSpPr>
        <p:spPr bwMode="auto">
          <a:xfrm rot="0" flipH="0" flipV="0">
            <a:off x="-19713" y="2354035"/>
            <a:ext cx="4660038" cy="3238499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36042313" name=""/>
          <p:cNvSpPr/>
          <p:nvPr/>
        </p:nvSpPr>
        <p:spPr bwMode="auto">
          <a:xfrm rot="0" flipH="0" flipV="0">
            <a:off x="83769" y="2420283"/>
            <a:ext cx="2193146" cy="973547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965745276" name="Connecteur droit 1568760680"/>
          <p:cNvCxnSpPr/>
          <p:nvPr/>
        </p:nvCxnSpPr>
        <p:spPr bwMode="auto">
          <a:xfrm flipV="1">
            <a:off x="-56172" y="349821"/>
            <a:ext cx="6924673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2374416" name="ZoneTexte 1868728971"/>
          <p:cNvSpPr txBox="1"/>
          <p:nvPr/>
        </p:nvSpPr>
        <p:spPr bwMode="auto">
          <a:xfrm flipH="0" flipV="0">
            <a:off x="45899" y="178884"/>
            <a:ext cx="160198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IDENTIT</a:t>
            </a:r>
            <a:r>
              <a:rPr lang="fr-FR" sz="1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E</a:t>
            </a:r>
            <a:endParaRPr/>
          </a:p>
        </p:txBody>
      </p:sp>
      <p:cxnSp>
        <p:nvCxnSpPr>
          <p:cNvPr id="1717309567" name="Connecteur droit 806540798"/>
          <p:cNvCxnSpPr/>
          <p:nvPr/>
        </p:nvCxnSpPr>
        <p:spPr bwMode="auto">
          <a:xfrm flipH="0" flipV="1">
            <a:off x="4710807" y="2949792"/>
            <a:ext cx="2215236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545317" name="ZoneTexte 406616703"/>
          <p:cNvSpPr txBox="1"/>
          <p:nvPr/>
        </p:nvSpPr>
        <p:spPr bwMode="auto">
          <a:xfrm flipH="0" flipV="0">
            <a:off x="4744825" y="2766731"/>
            <a:ext cx="1195114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APTITUDES</a:t>
            </a:r>
            <a:endParaRPr/>
          </a:p>
        </p:txBody>
      </p:sp>
      <p:sp>
        <p:nvSpPr>
          <p:cNvPr id="113107096" name="ZoneTexte 2018177722"/>
          <p:cNvSpPr txBox="1"/>
          <p:nvPr/>
        </p:nvSpPr>
        <p:spPr bwMode="auto">
          <a:xfrm flipH="0" flipV="0">
            <a:off x="3872021" y="178884"/>
            <a:ext cx="1324459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lang="fr-FR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ATTRIBUTS</a:t>
            </a:r>
            <a:endParaRPr sz="1800" b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91931471" name="ZoneTexte 1302587497"/>
          <p:cNvSpPr txBox="1"/>
          <p:nvPr/>
        </p:nvSpPr>
        <p:spPr bwMode="auto">
          <a:xfrm flipH="0" flipV="0">
            <a:off x="142541" y="563517"/>
            <a:ext cx="3865552" cy="1508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000">
                <a:latin typeface="ComicNeueSansID"/>
                <a:ea typeface="ComicNeueSansID"/>
                <a:cs typeface="ComicNeueSansID"/>
              </a:rPr>
              <a:t>Surnom</a:t>
            </a:r>
            <a:r>
              <a:rPr sz="1000">
                <a:latin typeface="ComicNeueSansID"/>
                <a:ea typeface="ComicNeueSansID"/>
                <a:cs typeface="ComicNeueSansID"/>
              </a:rPr>
              <a:t> </a:t>
            </a:r>
            <a:r>
              <a:rPr sz="1000">
                <a:latin typeface="ComicNeueSansID"/>
                <a:ea typeface="ComicNeueSansID"/>
                <a:cs typeface="ComicNeueSansID"/>
              </a:rPr>
              <a:t>: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__________________________________________</a:t>
            </a:r>
            <a:br>
              <a:rPr sz="1000"/>
            </a:br>
            <a:r>
              <a:rPr sz="1000">
                <a:latin typeface="ComicNeueSansID"/>
                <a:ea typeface="ComicNeueSansID"/>
                <a:cs typeface="ComicNeueSansID"/>
              </a:rPr>
              <a:t>Nom</a:t>
            </a:r>
            <a:r>
              <a:rPr sz="1000">
                <a:latin typeface="ComicNeueSansID"/>
                <a:ea typeface="ComicNeueSansID"/>
                <a:cs typeface="ComicNeueSansID"/>
              </a:rPr>
              <a:t> </a:t>
            </a:r>
            <a:r>
              <a:rPr sz="1000">
                <a:latin typeface="ComicNeueSansID"/>
                <a:ea typeface="ComicNeueSansID"/>
                <a:cs typeface="ComicNeueSansID"/>
              </a:rPr>
              <a:t>: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 ____________________________________________</a:t>
            </a:r>
            <a:endParaRPr/>
          </a:p>
          <a:p>
            <a:pPr>
              <a:lnSpc>
                <a:spcPct val="150000"/>
              </a:lnSpc>
              <a:defRPr/>
            </a:pPr>
            <a:r>
              <a:rPr sz="1000">
                <a:latin typeface="ComicNeueSansID"/>
                <a:ea typeface="ComicNeueSansID"/>
                <a:cs typeface="ComicNeueSansID"/>
              </a:rPr>
              <a:t>Âge</a:t>
            </a:r>
            <a:r>
              <a:rPr sz="1000">
                <a:latin typeface="ComicNeueSansID"/>
                <a:ea typeface="ComicNeueSansID"/>
                <a:cs typeface="ComicNeueSansID"/>
              </a:rPr>
              <a:t> </a:t>
            </a:r>
            <a:r>
              <a:rPr sz="1000">
                <a:latin typeface="ComicNeueSansID"/>
                <a:ea typeface="ComicNeueSansID"/>
                <a:cs typeface="ComicNeueSansID"/>
              </a:rPr>
              <a:t>:</a:t>
            </a:r>
            <a:r>
              <a:rPr sz="1000"/>
              <a:t>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___________________</a:t>
            </a:r>
            <a:r>
              <a:rPr sz="1000"/>
              <a:t>	</a:t>
            </a:r>
            <a:r>
              <a:rPr sz="1000">
                <a:latin typeface="ComicNeueSansID"/>
                <a:ea typeface="ComicNeueSansID"/>
                <a:cs typeface="ComicNeueSansID"/>
              </a:rPr>
              <a:t>Sexe </a:t>
            </a:r>
            <a:r>
              <a:rPr sz="1000"/>
              <a:t>: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__________________</a:t>
            </a:r>
            <a:r>
              <a:rPr sz="1000"/>
              <a:t>	</a:t>
            </a:r>
            <a:endParaRPr sz="1000"/>
          </a:p>
          <a:p>
            <a:pPr>
              <a:lnSpc>
                <a:spcPct val="150000"/>
              </a:lnSpc>
              <a:defRPr/>
            </a:pPr>
            <a:r>
              <a:rPr sz="1000">
                <a:latin typeface="ComicNeueSansID"/>
                <a:ea typeface="ComicNeueSansID"/>
                <a:cs typeface="ComicNeueSansID"/>
              </a:rPr>
              <a:t>Taille :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___________________</a:t>
            </a:r>
            <a:r>
              <a:rPr sz="1000"/>
              <a:t>  </a:t>
            </a:r>
            <a:r>
              <a:rPr sz="1000">
                <a:latin typeface="ComicNeueSansID"/>
                <a:ea typeface="ComicNeueSansID"/>
                <a:cs typeface="ComicNeueSansID"/>
              </a:rPr>
              <a:t>Poids</a:t>
            </a:r>
            <a:r>
              <a:rPr sz="1000">
                <a:latin typeface="ComicNeueSansID"/>
                <a:ea typeface="ComicNeueSansID"/>
                <a:cs typeface="ComicNeueSansID"/>
              </a:rPr>
              <a:t> :</a:t>
            </a:r>
            <a:r>
              <a:rPr sz="1000"/>
              <a:t>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__________________</a:t>
            </a:r>
            <a:endParaRPr>
              <a:solidFill>
                <a:schemeClr val="bg2">
                  <a:lumMod val="90000"/>
                </a:schemeClr>
              </a:solidFill>
            </a:endParaRPr>
          </a:p>
          <a:p>
            <a:pPr>
              <a:lnSpc>
                <a:spcPct val="150000"/>
              </a:lnSpc>
              <a:defRPr/>
            </a:pPr>
            <a:r>
              <a:rPr sz="1000">
                <a:latin typeface="ComicNeueSansID"/>
                <a:ea typeface="ComicNeueSansID"/>
                <a:cs typeface="ComicNeueSansID"/>
              </a:rPr>
              <a:t>Yeux :</a:t>
            </a:r>
            <a:r>
              <a:rPr sz="1000"/>
              <a:t>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___________________</a:t>
            </a:r>
            <a:r>
              <a:rPr sz="1000"/>
              <a:t>	</a:t>
            </a:r>
            <a:r>
              <a:rPr sz="1000">
                <a:latin typeface="ComicNeueSansID"/>
                <a:ea typeface="ComicNeueSansID"/>
                <a:cs typeface="ComicNeueSansID"/>
              </a:rPr>
              <a:t>Cheveux</a:t>
            </a:r>
            <a:r>
              <a:rPr sz="1000">
                <a:latin typeface="ComicNeueSansID"/>
                <a:ea typeface="ComicNeueSansID"/>
                <a:cs typeface="ComicNeueSansID"/>
              </a:rPr>
              <a:t> :</a:t>
            </a:r>
            <a:r>
              <a:rPr sz="1000"/>
              <a:t>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</a:t>
            </a:r>
            <a:endParaRPr/>
          </a:p>
          <a:p>
            <a:pPr>
              <a:lnSpc>
                <a:spcPct val="150000"/>
              </a:lnSpc>
              <a:defRPr/>
            </a:pPr>
            <a:r>
              <a:rPr sz="1000">
                <a:latin typeface="ComicNeueSansID"/>
                <a:ea typeface="ComicNeueSansID"/>
                <a:cs typeface="ComicNeueSansID"/>
              </a:rPr>
              <a:t>Groupe </a:t>
            </a:r>
            <a:r>
              <a:rPr sz="1000">
                <a:latin typeface="ComicNeueSansID"/>
                <a:ea typeface="ComicNeueSansID"/>
                <a:cs typeface="ComicNeueSansID"/>
              </a:rPr>
              <a:t>:</a:t>
            </a:r>
            <a:r>
              <a:rPr sz="1000"/>
              <a:t> </a:t>
            </a:r>
            <a:r>
              <a:rPr sz="1000">
                <a:solidFill>
                  <a:schemeClr val="bg2">
                    <a:lumMod val="90000"/>
                  </a:schemeClr>
                </a:solidFill>
              </a:rPr>
              <a:t>__________________________________________</a:t>
            </a:r>
            <a:r>
              <a:rPr lang="fr-FR" sz="1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</a:t>
            </a:r>
            <a:endParaRPr/>
          </a:p>
        </p:txBody>
      </p:sp>
      <p:cxnSp>
        <p:nvCxnSpPr>
          <p:cNvPr id="199944628" name="Connecteur droit 342798987"/>
          <p:cNvCxnSpPr/>
          <p:nvPr/>
        </p:nvCxnSpPr>
        <p:spPr bwMode="auto">
          <a:xfrm flipH="0" flipV="1">
            <a:off x="-1453" y="8683857"/>
            <a:ext cx="4563659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7162490" name="ZoneTexte 966486802"/>
          <p:cNvSpPr txBox="1"/>
          <p:nvPr/>
        </p:nvSpPr>
        <p:spPr bwMode="auto">
          <a:xfrm>
            <a:off x="42977" y="8500797"/>
            <a:ext cx="2274263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RESSOURCES</a:t>
            </a:r>
            <a:endParaRPr/>
          </a:p>
        </p:txBody>
      </p:sp>
      <p:sp>
        <p:nvSpPr>
          <p:cNvPr id="1517250762" name="Rectangle 38344096"/>
          <p:cNvSpPr/>
          <p:nvPr/>
        </p:nvSpPr>
        <p:spPr bwMode="auto">
          <a:xfrm flipH="0" flipV="0">
            <a:off x="3678865" y="298814"/>
            <a:ext cx="168518" cy="173916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4999668" name="ZoneTexte 1527388901"/>
          <p:cNvSpPr txBox="1"/>
          <p:nvPr/>
        </p:nvSpPr>
        <p:spPr bwMode="auto">
          <a:xfrm flipH="0" flipV="0">
            <a:off x="4741267" y="6429585"/>
            <a:ext cx="2154263" cy="16920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________________________________________________________________________________________________________________________________________________________________________________________</a:t>
            </a:r>
            <a:endParaRPr sz="1000" b="0" i="0" u="none" strike="noStrike" cap="none" spc="0">
              <a:solidFill>
                <a:schemeClr val="bg2">
                  <a:lumMod val="90000"/>
                </a:schemeClr>
              </a:solidFill>
              <a:latin typeface="Times New Roman"/>
              <a:cs typeface="Times New Roman"/>
            </a:endParaRPr>
          </a:p>
        </p:txBody>
      </p:sp>
      <p:sp>
        <p:nvSpPr>
          <p:cNvPr id="1026145733" name=""/>
          <p:cNvSpPr txBox="1"/>
          <p:nvPr/>
        </p:nvSpPr>
        <p:spPr bwMode="auto">
          <a:xfrm rot="0" flipH="0" flipV="0">
            <a:off x="142540" y="8821296"/>
            <a:ext cx="4497784" cy="10211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Profession :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	</a:t>
            </a: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Base d’opération :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__________________</a:t>
            </a:r>
            <a:br>
              <a:rPr lang="fr-FR" sz="1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</a:b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Niveau de vie :</a:t>
            </a:r>
            <a:r>
              <a:rPr lang="fr-FR" sz="12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	</a:t>
            </a: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Équipement :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_______________________</a:t>
            </a:r>
            <a:b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</a:b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		                     ________________________</a:t>
            </a:r>
            <a:b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</a:b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		                     _______________________</a:t>
            </a:r>
            <a:endParaRPr lang="fr-FR" sz="12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390728" name="ZoneTexte 1440859034"/>
          <p:cNvSpPr txBox="1"/>
          <p:nvPr/>
        </p:nvSpPr>
        <p:spPr bwMode="auto">
          <a:xfrm>
            <a:off x="193230" y="9620488"/>
            <a:ext cx="1076955" cy="2746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200" b="1">
                <a:solidFill>
                  <a:schemeClr val="bg1">
                    <a:lumMod val="65000"/>
                  </a:schemeClr>
                </a:solidFill>
                <a:latin typeface="ComicNeueSansID"/>
                <a:ea typeface="ComicNeueSansID"/>
                <a:cs typeface="ComicNeueSansID"/>
              </a:rPr>
              <a:t>ECONOMIES</a:t>
            </a:r>
            <a:endParaRPr/>
          </a:p>
        </p:txBody>
      </p:sp>
      <p:sp>
        <p:nvSpPr>
          <p:cNvPr id="705908278" name="ZoneTexte 1440859034"/>
          <p:cNvSpPr txBox="1"/>
          <p:nvPr/>
        </p:nvSpPr>
        <p:spPr bwMode="auto">
          <a:xfrm>
            <a:off x="1704450" y="9620489"/>
            <a:ext cx="781455" cy="2746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200" b="1">
                <a:solidFill>
                  <a:schemeClr val="bg1">
                    <a:lumMod val="65000"/>
                  </a:schemeClr>
                </a:solidFill>
                <a:latin typeface="ComicNeueSansID"/>
                <a:ea typeface="ComicNeueSansID"/>
                <a:cs typeface="ComicNeueSansID"/>
              </a:rPr>
              <a:t>DETTES</a:t>
            </a:r>
            <a:endParaRPr/>
          </a:p>
        </p:txBody>
      </p:sp>
      <p:cxnSp>
        <p:nvCxnSpPr>
          <p:cNvPr id="669274534" name=""/>
          <p:cNvCxnSpPr/>
          <p:nvPr/>
        </p:nvCxnSpPr>
        <p:spPr bwMode="auto">
          <a:xfrm flipH="0" flipV="1">
            <a:off x="1411153" y="9338886"/>
            <a:ext cx="0" cy="418942"/>
          </a:xfrm>
          <a:prstGeom prst="line">
            <a:avLst/>
          </a:prstGeom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04426" name=""/>
          <p:cNvSpPr txBox="1"/>
          <p:nvPr/>
        </p:nvSpPr>
        <p:spPr bwMode="auto">
          <a:xfrm rot="0" flipH="0" flipV="0">
            <a:off x="45663" y="9265758"/>
            <a:ext cx="1381485" cy="42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10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b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</a:b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059929852" name=""/>
          <p:cNvSpPr txBox="1"/>
          <p:nvPr/>
        </p:nvSpPr>
        <p:spPr bwMode="auto">
          <a:xfrm rot="0" flipH="0" flipV="0">
            <a:off x="1384600" y="9267359"/>
            <a:ext cx="1381485" cy="4270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10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b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</a:b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6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87658548" name="Rectangle 954364527"/>
          <p:cNvSpPr/>
          <p:nvPr/>
        </p:nvSpPr>
        <p:spPr bwMode="auto">
          <a:xfrm flipH="0" flipV="0">
            <a:off x="4432771" y="8823120"/>
            <a:ext cx="162576" cy="9347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049958" name="ZoneTexte 1302587497"/>
          <p:cNvSpPr txBox="1"/>
          <p:nvPr/>
        </p:nvSpPr>
        <p:spPr bwMode="auto">
          <a:xfrm flipH="0" flipV="0">
            <a:off x="4640324" y="3132851"/>
            <a:ext cx="1488142" cy="3109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Arts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Athlétisme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Bagou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Filouterie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Médecine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Nature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Occultisme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Sciences exactes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Sciences humaines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Technologie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Véhicules</a:t>
            </a:r>
            <a:endParaRPr sz="1100">
              <a:latin typeface="ComicNeueSansID"/>
              <a:cs typeface="ComicNeueSansID"/>
            </a:endParaRPr>
          </a:p>
          <a:p>
            <a:pPr algn="r">
              <a:lnSpc>
                <a:spcPct val="150000"/>
              </a:lnSpc>
              <a:defRPr/>
            </a:pPr>
            <a:r>
              <a:rPr sz="1100">
                <a:latin typeface="ComicNeueSansID"/>
                <a:ea typeface="ComicNeueSansID"/>
                <a:cs typeface="ComicNeueSansID"/>
              </a:rPr>
              <a:t>Vigilance</a:t>
            </a:r>
            <a:endParaRPr sz="1100">
              <a:latin typeface="ComicNeueSansID"/>
              <a:cs typeface="ComicNeueSansID"/>
            </a:endParaRPr>
          </a:p>
        </p:txBody>
      </p:sp>
      <p:sp>
        <p:nvSpPr>
          <p:cNvPr id="737174628" name="ZoneTexte 1302587497"/>
          <p:cNvSpPr txBox="1"/>
          <p:nvPr/>
        </p:nvSpPr>
        <p:spPr bwMode="auto">
          <a:xfrm flipH="0" flipV="0">
            <a:off x="6059712" y="3140178"/>
            <a:ext cx="786821" cy="3109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lnSpc>
                <a:spcPct val="150000"/>
              </a:lnSpc>
              <a:defRPr/>
            </a:pPr>
            <a:r>
              <a:rPr sz="110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>
              <a:solidFill>
                <a:schemeClr val="bg1">
                  <a:lumMod val="65000"/>
                </a:schemeClr>
              </a:solidFill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lang="fr-FR" sz="1100" b="0" i="0" u="none" strike="noStrike" cap="none" spc="0">
              <a:solidFill>
                <a:schemeClr val="bg1">
                  <a:lumMod val="65000"/>
                </a:schemeClr>
              </a:solidFill>
              <a:latin typeface="Cambria Math"/>
              <a:ea typeface="Cambria Math"/>
              <a:cs typeface="Cambria Math"/>
            </a:endParaRPr>
          </a:p>
        </p:txBody>
      </p:sp>
      <p:sp>
        <p:nvSpPr>
          <p:cNvPr id="117346770" name=""/>
          <p:cNvSpPr txBox="1"/>
          <p:nvPr/>
        </p:nvSpPr>
        <p:spPr bwMode="auto">
          <a:xfrm rot="0" flipH="0" flipV="0">
            <a:off x="3859652" y="897511"/>
            <a:ext cx="1267284" cy="7318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lnSpc>
                <a:spcPct val="100000"/>
              </a:lnSpc>
              <a:defRPr/>
            </a:pPr>
            <a:r>
              <a:rPr sz="1400">
                <a:latin typeface="ComicNeueSansID"/>
                <a:ea typeface="ComicNeueSansID"/>
                <a:cs typeface="ComicNeueSansID"/>
              </a:rPr>
              <a:t>Énergie</a:t>
            </a:r>
            <a:endParaRPr sz="1400">
              <a:latin typeface="ComicNeueSansID"/>
              <a:cs typeface="ComicNeueSansID"/>
            </a:endParaRPr>
          </a:p>
          <a:p>
            <a:pPr algn="r">
              <a:lnSpc>
                <a:spcPct val="100000"/>
              </a:lnSpc>
              <a:defRPr/>
            </a:pPr>
            <a:r>
              <a:rPr sz="1400">
                <a:latin typeface="ComicNeueSansID"/>
                <a:ea typeface="ComicNeueSansID"/>
                <a:cs typeface="ComicNeueSansID"/>
              </a:rPr>
              <a:t>Récupération</a:t>
            </a:r>
            <a:endParaRPr sz="1400">
              <a:latin typeface="ComicNeueSansID"/>
              <a:cs typeface="ComicNeueSansID"/>
            </a:endParaRPr>
          </a:p>
          <a:p>
            <a:pPr algn="r">
              <a:lnSpc>
                <a:spcPct val="100000"/>
              </a:lnSpc>
              <a:defRPr/>
            </a:pPr>
            <a:r>
              <a:rPr sz="1400">
                <a:latin typeface="ComicNeueSansID"/>
                <a:ea typeface="ComicNeueSansID"/>
                <a:cs typeface="ComicNeueSansID"/>
              </a:rPr>
              <a:t>Vigueur</a:t>
            </a:r>
            <a:endParaRPr/>
          </a:p>
        </p:txBody>
      </p:sp>
      <p:sp>
        <p:nvSpPr>
          <p:cNvPr id="182134270" name=""/>
          <p:cNvSpPr txBox="1"/>
          <p:nvPr/>
        </p:nvSpPr>
        <p:spPr bwMode="auto">
          <a:xfrm rot="0" flipH="0" flipV="0">
            <a:off x="5058142" y="897511"/>
            <a:ext cx="1718413" cy="7318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defRPr/>
            </a:pP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sz="140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400">
              <a:solidFill>
                <a:schemeClr val="bg1">
                  <a:lumMod val="75000"/>
                </a:schemeClr>
              </a:solidFill>
            </a:endParaRPr>
          </a:p>
          <a:p>
            <a:pPr algn="l">
              <a:lnSpc>
                <a:spcPct val="100000"/>
              </a:lnSpc>
              <a:defRPr/>
            </a:pP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sz="140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400">
              <a:solidFill>
                <a:schemeClr val="bg1">
                  <a:lumMod val="75000"/>
                </a:schemeClr>
              </a:solidFill>
            </a:endParaRPr>
          </a:p>
          <a:p>
            <a:pPr algn="l">
              <a:lnSpc>
                <a:spcPct val="100000"/>
              </a:lnSpc>
              <a:defRPr/>
            </a:pP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sz="140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/>
          </a:p>
        </p:txBody>
      </p:sp>
      <p:cxnSp>
        <p:nvCxnSpPr>
          <p:cNvPr id="299186467" name="Connecteur droit 806540798"/>
          <p:cNvCxnSpPr/>
          <p:nvPr/>
        </p:nvCxnSpPr>
        <p:spPr bwMode="auto">
          <a:xfrm flipH="0" flipV="1">
            <a:off x="4741267" y="6359193"/>
            <a:ext cx="2192728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7723397" name="ZoneTexte 406616703"/>
          <p:cNvSpPr txBox="1"/>
          <p:nvPr/>
        </p:nvSpPr>
        <p:spPr bwMode="auto">
          <a:xfrm flipH="0" flipV="0">
            <a:off x="4778845" y="6176131"/>
            <a:ext cx="1314883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TRAITS</a:t>
            </a:r>
            <a:endParaRPr/>
          </a:p>
        </p:txBody>
      </p:sp>
      <p:cxnSp>
        <p:nvCxnSpPr>
          <p:cNvPr id="983280546" name="Connecteur droit 858914340"/>
          <p:cNvCxnSpPr/>
          <p:nvPr/>
        </p:nvCxnSpPr>
        <p:spPr bwMode="auto">
          <a:xfrm flipH="0" flipV="1">
            <a:off x="-68464" y="2247774"/>
            <a:ext cx="4630672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086853" name="ZoneTexte 2018177722"/>
          <p:cNvSpPr txBox="1"/>
          <p:nvPr/>
        </p:nvSpPr>
        <p:spPr bwMode="auto">
          <a:xfrm flipH="0" flipV="0">
            <a:off x="19507" y="2064714"/>
            <a:ext cx="1976949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POUVOIRS &amp; CAPACITES</a:t>
            </a:r>
            <a:endParaRPr sz="1800" b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53007721" name=""/>
          <p:cNvSpPr/>
          <p:nvPr/>
        </p:nvSpPr>
        <p:spPr bwMode="auto">
          <a:xfrm rot="0" flipH="0" flipV="0">
            <a:off x="2369061" y="2420283"/>
            <a:ext cx="2193145" cy="973546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23510803" name=""/>
          <p:cNvSpPr/>
          <p:nvPr/>
        </p:nvSpPr>
        <p:spPr bwMode="auto">
          <a:xfrm rot="0" flipH="0" flipV="0">
            <a:off x="83769" y="3473894"/>
            <a:ext cx="2193145" cy="973546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9160611" name=""/>
          <p:cNvSpPr/>
          <p:nvPr/>
        </p:nvSpPr>
        <p:spPr bwMode="auto">
          <a:xfrm rot="0" flipH="0" flipV="0">
            <a:off x="2369061" y="3473894"/>
            <a:ext cx="2193145" cy="973546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4174807" name=""/>
          <p:cNvSpPr/>
          <p:nvPr/>
        </p:nvSpPr>
        <p:spPr bwMode="auto">
          <a:xfrm rot="0" flipH="0" flipV="0">
            <a:off x="83769" y="4528971"/>
            <a:ext cx="2193145" cy="973546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355592" name=""/>
          <p:cNvSpPr/>
          <p:nvPr/>
        </p:nvSpPr>
        <p:spPr bwMode="auto">
          <a:xfrm rot="0" flipH="0" flipV="0">
            <a:off x="2369061" y="4528971"/>
            <a:ext cx="2193145" cy="973546"/>
          </a:xfrm>
          <a:prstGeom prst="snip1Rect">
            <a:avLst>
              <a:gd name="adj" fmla="val 16667"/>
            </a:avLst>
          </a:prstGeom>
          <a:solidFill>
            <a:schemeClr val="bg1"/>
          </a:solidFill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2340312" name=""/>
          <p:cNvSpPr txBox="1"/>
          <p:nvPr/>
        </p:nvSpPr>
        <p:spPr bwMode="auto">
          <a:xfrm rot="0" flipH="0" flipV="0">
            <a:off x="4513610" y="510900"/>
            <a:ext cx="614406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lnSpc>
                <a:spcPct val="100000"/>
              </a:lnSpc>
              <a:defRPr/>
            </a:pPr>
            <a:r>
              <a:rPr sz="1400">
                <a:latin typeface="ComicNeueSansID"/>
                <a:ea typeface="ComicNeueSansID"/>
                <a:cs typeface="ComicNeueSansID"/>
              </a:rPr>
              <a:t>Rang</a:t>
            </a:r>
            <a:endParaRPr/>
          </a:p>
        </p:txBody>
      </p:sp>
      <p:sp>
        <p:nvSpPr>
          <p:cNvPr id="1158598029" name=""/>
          <p:cNvSpPr txBox="1"/>
          <p:nvPr/>
        </p:nvSpPr>
        <p:spPr bwMode="auto">
          <a:xfrm rot="0" flipH="0" flipV="0">
            <a:off x="5057424" y="510900"/>
            <a:ext cx="1718413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defRPr/>
            </a:pP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sz="140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400" b="0" i="0" u="none" strike="noStrike" cap="none" spc="0">
                <a:solidFill>
                  <a:schemeClr val="bg1">
                    <a:lumMod val="7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400"/>
          </a:p>
        </p:txBody>
      </p:sp>
      <p:cxnSp>
        <p:nvCxnSpPr>
          <p:cNvPr id="1155068513" name=""/>
          <p:cNvCxnSpPr/>
          <p:nvPr/>
        </p:nvCxnSpPr>
        <p:spPr bwMode="auto">
          <a:xfrm rot="5400000" flipH="1" flipV="1">
            <a:off x="5905202" y="482408"/>
            <a:ext cx="0" cy="761999"/>
          </a:xfrm>
          <a:prstGeom prst="line">
            <a:avLst/>
          </a:prstGeom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482460" name="Connecteur droit 342798987"/>
          <p:cNvCxnSpPr/>
          <p:nvPr/>
        </p:nvCxnSpPr>
        <p:spPr bwMode="auto">
          <a:xfrm flipH="0" flipV="1">
            <a:off x="-14510" y="5781761"/>
            <a:ext cx="2291426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061698" name="ZoneTexte 966486802"/>
          <p:cNvSpPr txBox="1"/>
          <p:nvPr/>
        </p:nvSpPr>
        <p:spPr bwMode="auto">
          <a:xfrm flipH="0" flipV="0">
            <a:off x="29920" y="5598700"/>
            <a:ext cx="221767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REPUTATIO</a:t>
            </a:r>
            <a:r>
              <a:rPr lang="fr-FR" sz="1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N</a:t>
            </a:r>
            <a:r>
              <a:rPr lang="fr-FR" sz="18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 &amp; RELATIONS</a:t>
            </a:r>
            <a:endParaRPr lang="fr-FR" sz="18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Quick Trick"/>
              <a:cs typeface="Quick Trick"/>
            </a:endParaRPr>
          </a:p>
        </p:txBody>
      </p:sp>
      <p:cxnSp>
        <p:nvCxnSpPr>
          <p:cNvPr id="333348597" name="Connecteur droit 806540798"/>
          <p:cNvCxnSpPr/>
          <p:nvPr/>
        </p:nvCxnSpPr>
        <p:spPr bwMode="auto">
          <a:xfrm flipH="0" flipV="1">
            <a:off x="2373414" y="5781760"/>
            <a:ext cx="2188792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386440" name="ZoneTexte 406616703"/>
          <p:cNvSpPr txBox="1"/>
          <p:nvPr/>
        </p:nvSpPr>
        <p:spPr bwMode="auto">
          <a:xfrm flipH="0" flipV="0">
            <a:off x="2382898" y="5598698"/>
            <a:ext cx="1963941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STRESS</a:t>
            </a:r>
            <a:endParaRPr/>
          </a:p>
        </p:txBody>
      </p:sp>
      <p:sp>
        <p:nvSpPr>
          <p:cNvPr id="307152589" name=""/>
          <p:cNvSpPr txBox="1"/>
          <p:nvPr/>
        </p:nvSpPr>
        <p:spPr bwMode="auto">
          <a:xfrm rot="0" flipH="0" flipV="0">
            <a:off x="2424655" y="6202249"/>
            <a:ext cx="2342712" cy="239271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50000"/>
              </a:lnSpc>
              <a:defRPr/>
            </a:pP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Exutoires :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endParaRPr lang="fr-FR" sz="12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b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</a:b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endParaRPr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tx1"/>
                </a:solidFill>
                <a:latin typeface="ComicNeueSansID"/>
                <a:ea typeface="ComicNeueSansID"/>
                <a:cs typeface="ComicNeueSansID"/>
              </a:rPr>
              <a:t>Complications :</a:t>
            </a: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 _______________</a:t>
            </a:r>
            <a:endParaRPr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endParaRPr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endParaRPr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endParaRPr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50000"/>
              </a:lnSpc>
              <a:defRPr/>
            </a:pP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b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</a:br>
            <a:r>
              <a:rPr lang="fr-FR" sz="1000" b="0" i="0" u="none" strike="noStrike" cap="none" spc="0">
                <a:solidFill>
                  <a:schemeClr val="bg2">
                    <a:lumMod val="90000"/>
                  </a:schemeClr>
                </a:solidFill>
                <a:latin typeface="Arial"/>
                <a:ea typeface="Arial"/>
                <a:cs typeface="Arial"/>
              </a:rPr>
              <a:t>____________________________</a:t>
            </a:r>
            <a:endParaRPr lang="fr-FR" sz="1000" b="0" i="0" u="none" strike="noStrike" cap="none" spc="0">
              <a:solidFill>
                <a:schemeClr val="bg2">
                  <a:lumMod val="9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5670035" name=""/>
          <p:cNvSpPr/>
          <p:nvPr/>
        </p:nvSpPr>
        <p:spPr bwMode="auto">
          <a:xfrm rot="0" flipH="0" flipV="0">
            <a:off x="1839911" y="5987547"/>
            <a:ext cx="394473" cy="205153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93740740" name=""/>
          <p:cNvSpPr/>
          <p:nvPr/>
        </p:nvSpPr>
        <p:spPr bwMode="auto">
          <a:xfrm rot="0" flipH="0" flipV="0">
            <a:off x="1838936" y="6220542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1621164" name=""/>
          <p:cNvSpPr/>
          <p:nvPr/>
        </p:nvSpPr>
        <p:spPr bwMode="auto">
          <a:xfrm rot="0" flipH="0" flipV="0">
            <a:off x="1838936" y="6457019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95687994" name=""/>
          <p:cNvSpPr/>
          <p:nvPr/>
        </p:nvSpPr>
        <p:spPr bwMode="auto">
          <a:xfrm rot="0" flipH="0" flipV="0">
            <a:off x="1837962" y="6690015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4718400" name=""/>
          <p:cNvSpPr/>
          <p:nvPr/>
        </p:nvSpPr>
        <p:spPr bwMode="auto">
          <a:xfrm rot="0" flipH="0" flipV="0">
            <a:off x="1837962" y="6922020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8284134" name=""/>
          <p:cNvSpPr/>
          <p:nvPr/>
        </p:nvSpPr>
        <p:spPr bwMode="auto">
          <a:xfrm rot="0" flipH="0" flipV="0">
            <a:off x="1836986" y="7147688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7588171" name=""/>
          <p:cNvSpPr/>
          <p:nvPr/>
        </p:nvSpPr>
        <p:spPr bwMode="auto">
          <a:xfrm rot="0" flipH="0" flipV="0">
            <a:off x="1836986" y="7369512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89027659" name=""/>
          <p:cNvSpPr/>
          <p:nvPr/>
        </p:nvSpPr>
        <p:spPr bwMode="auto">
          <a:xfrm rot="0" flipH="0" flipV="0">
            <a:off x="1836011" y="7602507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2076599" name=""/>
          <p:cNvSpPr/>
          <p:nvPr/>
        </p:nvSpPr>
        <p:spPr bwMode="auto">
          <a:xfrm rot="0" flipH="0" flipV="0">
            <a:off x="1836011" y="7835501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97330002" name=""/>
          <p:cNvSpPr/>
          <p:nvPr/>
        </p:nvSpPr>
        <p:spPr bwMode="auto">
          <a:xfrm rot="0" flipH="0" flipV="0">
            <a:off x="1836011" y="8057327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775383" name="Flèche : pentagone 1880610112"/>
          <p:cNvSpPr/>
          <p:nvPr/>
        </p:nvSpPr>
        <p:spPr bwMode="auto">
          <a:xfrm>
            <a:off x="2550591" y="5977434"/>
            <a:ext cx="188775" cy="182467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62810976" name="Flèche : pentagone 446859139"/>
          <p:cNvSpPr/>
          <p:nvPr/>
        </p:nvSpPr>
        <p:spPr bwMode="auto">
          <a:xfrm>
            <a:off x="2739366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80469240" name="Flèche : pentagone 2055848356"/>
          <p:cNvSpPr/>
          <p:nvPr/>
        </p:nvSpPr>
        <p:spPr bwMode="auto">
          <a:xfrm>
            <a:off x="2928144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137532" name="Flèche : pentagone 1980093981"/>
          <p:cNvSpPr/>
          <p:nvPr/>
        </p:nvSpPr>
        <p:spPr bwMode="auto">
          <a:xfrm>
            <a:off x="3116919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67786963" name="Flèche : pentagone 905284374"/>
          <p:cNvSpPr/>
          <p:nvPr/>
        </p:nvSpPr>
        <p:spPr bwMode="auto">
          <a:xfrm>
            <a:off x="3305693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73877689" name="Flèche : pentagone 1880610112"/>
          <p:cNvSpPr/>
          <p:nvPr/>
        </p:nvSpPr>
        <p:spPr bwMode="auto">
          <a:xfrm>
            <a:off x="3494469" y="5977434"/>
            <a:ext cx="188775" cy="182467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49378226" name="Flèche : pentagone 446859139"/>
          <p:cNvSpPr/>
          <p:nvPr/>
        </p:nvSpPr>
        <p:spPr bwMode="auto">
          <a:xfrm>
            <a:off x="3683244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97608083" name="Flèche : pentagone 2055848356"/>
          <p:cNvSpPr/>
          <p:nvPr/>
        </p:nvSpPr>
        <p:spPr bwMode="auto">
          <a:xfrm>
            <a:off x="3872025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6698702" name="Flèche : pentagone 1980093981"/>
          <p:cNvSpPr/>
          <p:nvPr/>
        </p:nvSpPr>
        <p:spPr bwMode="auto">
          <a:xfrm>
            <a:off x="4060800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3336765" name="Flèche : pentagone 905284374"/>
          <p:cNvSpPr/>
          <p:nvPr/>
        </p:nvSpPr>
        <p:spPr bwMode="auto">
          <a:xfrm>
            <a:off x="4249575" y="5977434"/>
            <a:ext cx="188775" cy="182466"/>
          </a:xfrm>
          <a:prstGeom prst="homePlate">
            <a:avLst>
              <a:gd name="adj" fmla="val 50000"/>
            </a:avLst>
          </a:prstGeom>
          <a:noFill/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29436316" name="Connecteur droit 806540798"/>
          <p:cNvCxnSpPr/>
          <p:nvPr/>
        </p:nvCxnSpPr>
        <p:spPr bwMode="auto">
          <a:xfrm flipH="0" flipV="1">
            <a:off x="4733316" y="8357478"/>
            <a:ext cx="2192727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5670295" name="ZoneTexte 406616703"/>
          <p:cNvSpPr txBox="1"/>
          <p:nvPr/>
        </p:nvSpPr>
        <p:spPr bwMode="auto">
          <a:xfrm flipH="0" flipV="0">
            <a:off x="4787347" y="8170164"/>
            <a:ext cx="1447218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EXPERIENCE</a:t>
            </a:r>
            <a:endParaRPr/>
          </a:p>
        </p:txBody>
      </p:sp>
      <p:sp>
        <p:nvSpPr>
          <p:cNvPr id="1345984351" name=""/>
          <p:cNvSpPr txBox="1"/>
          <p:nvPr/>
        </p:nvSpPr>
        <p:spPr bwMode="auto">
          <a:xfrm rot="0" flipH="0" flipV="0">
            <a:off x="5247907" y="8525760"/>
            <a:ext cx="1381485" cy="5947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10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b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</a:b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 b="0" i="0" u="none" strike="noStrike" cap="none" spc="0">
              <a:solidFill>
                <a:schemeClr val="bg1">
                  <a:lumMod val="65000"/>
                </a:schemeClr>
              </a:solidFill>
              <a:latin typeface="Cambria Math"/>
              <a:cs typeface="Cambria Math"/>
            </a:endParaRPr>
          </a:p>
          <a:p>
            <a:pPr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>
              <a:solidFill>
                <a:schemeClr val="bg1">
                  <a:lumMod val="65000"/>
                </a:schemeClr>
              </a:solidFill>
              <a:latin typeface="Cambria Math"/>
              <a:cs typeface="Cambria Math"/>
            </a:endParaRPr>
          </a:p>
        </p:txBody>
      </p:sp>
      <p:sp>
        <p:nvSpPr>
          <p:cNvPr id="612643664" name=""/>
          <p:cNvSpPr txBox="1"/>
          <p:nvPr/>
        </p:nvSpPr>
        <p:spPr bwMode="auto">
          <a:xfrm rot="0" flipH="0" flipV="0">
            <a:off x="5247907" y="9247634"/>
            <a:ext cx="1381485" cy="59472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10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b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</a:b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 sz="1100" b="0" i="0" u="none" strike="noStrike" cap="none" spc="0">
              <a:solidFill>
                <a:schemeClr val="bg1">
                  <a:lumMod val="65000"/>
                </a:schemeClr>
              </a:solidFill>
              <a:latin typeface="Cambria Math"/>
              <a:cs typeface="Cambria Math"/>
            </a:endParaRPr>
          </a:p>
          <a:p>
            <a:pPr>
              <a:defRPr/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endParaRPr>
              <a:solidFill>
                <a:schemeClr val="bg1">
                  <a:lumMod val="65000"/>
                </a:schemeClr>
              </a:solidFill>
              <a:latin typeface="Cambria Math"/>
              <a:cs typeface="Cambria Math"/>
            </a:endParaRPr>
          </a:p>
        </p:txBody>
      </p:sp>
      <p:sp>
        <p:nvSpPr>
          <p:cNvPr id="536089919" name="ZoneTexte 1440859034"/>
          <p:cNvSpPr txBox="1"/>
          <p:nvPr/>
        </p:nvSpPr>
        <p:spPr bwMode="auto">
          <a:xfrm rot="16199998">
            <a:off x="4860173" y="8700061"/>
            <a:ext cx="601174" cy="2746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200" b="1">
                <a:solidFill>
                  <a:schemeClr val="bg1">
                    <a:lumMod val="65000"/>
                  </a:schemeClr>
                </a:solidFill>
                <a:latin typeface="ComicNeueSansID"/>
                <a:ea typeface="ComicNeueSansID"/>
                <a:cs typeface="ComicNeueSansID"/>
              </a:rPr>
              <a:t>HERO</a:t>
            </a:r>
            <a:endParaRPr/>
          </a:p>
        </p:txBody>
      </p:sp>
      <p:sp>
        <p:nvSpPr>
          <p:cNvPr id="918899322" name="ZoneTexte 1440859034"/>
          <p:cNvSpPr txBox="1"/>
          <p:nvPr/>
        </p:nvSpPr>
        <p:spPr bwMode="auto">
          <a:xfrm rot="16199998">
            <a:off x="4904306" y="9416298"/>
            <a:ext cx="522989" cy="2746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200" b="1">
                <a:solidFill>
                  <a:schemeClr val="bg1">
                    <a:lumMod val="65000"/>
                  </a:schemeClr>
                </a:solidFill>
                <a:latin typeface="ComicNeueSansID"/>
                <a:ea typeface="ComicNeueSansID"/>
                <a:cs typeface="ComicNeueSansID"/>
              </a:rPr>
              <a:t>APTI</a:t>
            </a:r>
            <a:endParaRPr/>
          </a:p>
        </p:txBody>
      </p:sp>
      <p:cxnSp>
        <p:nvCxnSpPr>
          <p:cNvPr id="1577982127" name=""/>
          <p:cNvCxnSpPr/>
          <p:nvPr/>
        </p:nvCxnSpPr>
        <p:spPr bwMode="auto">
          <a:xfrm flipH="0" flipV="1">
            <a:off x="5573414" y="9190971"/>
            <a:ext cx="730472" cy="0"/>
          </a:xfrm>
          <a:prstGeom prst="line">
            <a:avLst/>
          </a:prstGeom>
          <a:ln w="127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864995" name="Connecteur droit 806540798"/>
          <p:cNvCxnSpPr/>
          <p:nvPr/>
        </p:nvCxnSpPr>
        <p:spPr bwMode="auto">
          <a:xfrm flipH="0" flipV="1">
            <a:off x="4710807" y="1795906"/>
            <a:ext cx="2199065" cy="0"/>
          </a:xfrm>
          <a:prstGeom prst="line">
            <a:avLst/>
          </a:prstGeom>
          <a:ln w="76199" cap="flat" cmpd="sng" algn="ctr">
            <a:solidFill>
              <a:srgbClr val="FFC000">
                <a:alpha val="99999"/>
              </a:srgb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2288853" name="ZoneTexte 406616703"/>
          <p:cNvSpPr txBox="1"/>
          <p:nvPr/>
        </p:nvSpPr>
        <p:spPr bwMode="auto">
          <a:xfrm flipH="0" flipV="0">
            <a:off x="4744825" y="1612845"/>
            <a:ext cx="875729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Quick Trick"/>
                <a:ea typeface="Quick Trick"/>
                <a:cs typeface="Quick Trick"/>
              </a:rPr>
              <a:t>ETATS</a:t>
            </a:r>
            <a:endParaRPr/>
          </a:p>
        </p:txBody>
      </p:sp>
      <p:sp>
        <p:nvSpPr>
          <p:cNvPr id="1311097024" name=""/>
          <p:cNvSpPr txBox="1"/>
          <p:nvPr/>
        </p:nvSpPr>
        <p:spPr bwMode="auto">
          <a:xfrm rot="0" flipH="0" flipV="0">
            <a:off x="4765437" y="2003615"/>
            <a:ext cx="1192703" cy="6860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lvl="0" indent="0" algn="l" defTabSz="9144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defRPr lang="fr-FR"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 Épuisé</a:t>
            </a:r>
            <a:b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</a:b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 Blessé</a:t>
            </a:r>
            <a:endParaRPr sz="1100">
              <a:latin typeface="ComicNeueSansID"/>
              <a:cs typeface="ComicNeueSansID"/>
            </a:endParaRPr>
          </a:p>
          <a:p>
            <a:pPr marL="0" marR="0" lvl="0" indent="0" algn="l" defTabSz="9144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defRPr lang="fr-FR"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 Incapacité</a:t>
            </a:r>
            <a:endParaRPr sz="1100">
              <a:latin typeface="ComicNeueSansID"/>
              <a:cs typeface="ComicNeueSansID"/>
            </a:endParaRPr>
          </a:p>
        </p:txBody>
      </p:sp>
      <p:sp>
        <p:nvSpPr>
          <p:cNvPr id="1470328114" name=""/>
          <p:cNvSpPr txBox="1"/>
          <p:nvPr/>
        </p:nvSpPr>
        <p:spPr bwMode="auto">
          <a:xfrm rot="0" flipH="0" flipV="0">
            <a:off x="5715696" y="2003615"/>
            <a:ext cx="1152065" cy="6860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lvl="0" indent="0" algn="l" defTabSz="9144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defRPr lang="fr-FR"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 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Troublé</a:t>
            </a:r>
            <a:b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</a:b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 Démoralisé</a:t>
            </a:r>
            <a:endParaRPr lang="fr-FR" sz="1100" b="0" i="0" u="none" strike="noStrike" cap="none" spc="0">
              <a:solidFill>
                <a:srgbClr val="000000"/>
              </a:solidFill>
              <a:latin typeface="ComicNeueSansID"/>
              <a:ea typeface="ComicNeueSansID"/>
              <a:cs typeface="ComicNeueSansID"/>
            </a:endParaRPr>
          </a:p>
          <a:p>
            <a:pPr marL="0" marR="0" lvl="0" indent="0" algn="l" defTabSz="91440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defRPr lang="fr-FR" sz="18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fr-FR" sz="1100" b="0" i="0" u="none" strike="noStrike" cap="none" spc="0">
                <a:solidFill>
                  <a:schemeClr val="bg1">
                    <a:lumMod val="65000"/>
                  </a:schemeClr>
                </a:solidFill>
                <a:latin typeface="Cambria Math"/>
                <a:ea typeface="Cambria Math"/>
                <a:cs typeface="Cambria Math"/>
              </a:rPr>
              <a:t>▢</a:t>
            </a:r>
            <a:r>
              <a:rPr lang="fr-FR" sz="1100" b="0" i="0" u="none" strike="noStrike" cap="none" spc="0">
                <a:solidFill>
                  <a:srgbClr val="000000"/>
                </a:solidFill>
                <a:latin typeface="ComicNeueSansID"/>
                <a:ea typeface="ComicNeueSansID"/>
                <a:cs typeface="ComicNeueSansID"/>
              </a:rPr>
              <a:t> Brisé</a:t>
            </a:r>
            <a:endParaRPr lang="fr-FR" sz="1100" b="0" i="0" u="none" strike="noStrike" cap="none" spc="0">
              <a:solidFill>
                <a:srgbClr val="000000"/>
              </a:solidFill>
              <a:latin typeface="ComicNeueSansID"/>
              <a:ea typeface="ComicNeueSansID"/>
              <a:cs typeface="ComicNeueSansID"/>
            </a:endParaRPr>
          </a:p>
        </p:txBody>
      </p:sp>
      <p:sp>
        <p:nvSpPr>
          <p:cNvPr id="699965565" name=""/>
          <p:cNvSpPr/>
          <p:nvPr/>
        </p:nvSpPr>
        <p:spPr bwMode="auto">
          <a:xfrm rot="0" flipH="0" flipV="0">
            <a:off x="1835652" y="8281615"/>
            <a:ext cx="394471" cy="205151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2761280" name=""/>
          <p:cNvSpPr/>
          <p:nvPr/>
        </p:nvSpPr>
        <p:spPr bwMode="auto">
          <a:xfrm rot="0" flipH="0" flipV="0">
            <a:off x="1435189" y="5987187"/>
            <a:ext cx="394472" cy="205152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22997315" name=""/>
          <p:cNvSpPr/>
          <p:nvPr/>
        </p:nvSpPr>
        <p:spPr bwMode="auto">
          <a:xfrm rot="0" flipH="0" flipV="0">
            <a:off x="1437942" y="6216494"/>
            <a:ext cx="394471" cy="205151"/>
          </a:xfrm>
          <a:prstGeom prst="flowChartPreparation">
            <a:avLst/>
          </a:prstGeom>
          <a:solidFill>
            <a:schemeClr val="bg1"/>
          </a:solidFill>
          <a:ln w="6350" cap="flat" cmpd="sng" algn="ctr">
            <a:solidFill>
              <a:srgbClr val="939393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187</cp:revision>
  <dcterms:created xsi:type="dcterms:W3CDTF">2012-12-03T06:56:55Z</dcterms:created>
  <dcterms:modified xsi:type="dcterms:W3CDTF">2026-06-14T15:22:17Z</dcterms:modified>
</cp:coreProperties>
</file>